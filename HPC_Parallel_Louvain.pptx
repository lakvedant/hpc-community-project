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"/>
            <a:ext cx="109728" cy="109728"/>
          </a:xfrm>
          <a:prstGeom prst="ellipse">
            <a:avLst/>
          </a:prstGeom>
          <a:solidFill>
            <a:srgbClr val="00C9E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83880" y="274320"/>
            <a:ext cx="109728" cy="109728"/>
          </a:xfrm>
          <a:prstGeom prst="ellipse">
            <a:avLst/>
          </a:prstGeom>
          <a:solidFill>
            <a:srgbClr val="00C9E4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95360" y="274320"/>
            <a:ext cx="109728" cy="109728"/>
          </a:xfrm>
          <a:prstGeom prst="ellipse">
            <a:avLst/>
          </a:prstGeom>
          <a:solidFill>
            <a:srgbClr val="00C9E4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685800"/>
            <a:ext cx="109728" cy="109728"/>
          </a:xfrm>
          <a:prstGeom prst="ellipse">
            <a:avLst/>
          </a:prstGeom>
          <a:solidFill>
            <a:srgbClr val="00C9E4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685800"/>
            <a:ext cx="109728" cy="109728"/>
          </a:xfrm>
          <a:prstGeom prst="ellipse">
            <a:avLst/>
          </a:prstGeom>
          <a:solidFill>
            <a:srgbClr val="00C9E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685800"/>
            <a:ext cx="109728" cy="109728"/>
          </a:xfrm>
          <a:prstGeom prst="ellipse">
            <a:avLst/>
          </a:prstGeom>
          <a:solidFill>
            <a:srgbClr val="00C9E4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502920"/>
            <a:ext cx="2194560" cy="347472"/>
          </a:xfrm>
          <a:prstGeom prst="rect">
            <a:avLst/>
          </a:prstGeom>
          <a:solidFill>
            <a:srgbClr val="1A3460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E8F5"/>
                </a:solidFill>
              </a:rPr>
              <a:t>AI356 · High Performance Computing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0972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Louvain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02920" y="17830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100" kern="0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Detection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A high-performance implementation using C · MPI · OpenMP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127248"/>
            <a:ext cx="5029200" cy="27432"/>
          </a:xfrm>
          <a:prstGeom prst="rect">
            <a:avLst/>
          </a:prstGeom>
          <a:solidFill>
            <a:srgbClr val="1A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Dhruv Jindal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  U23AI083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Lakshit Vedant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  U23AI015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Yash Joshi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  U23AI119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B.Tech AI · 3rd Year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5176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64008" cy="146304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2161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76072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Why community detection matters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51560"/>
            <a:ext cx="64008" cy="146304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2161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56432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Louvain Algorithm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How it works, modularity optimization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051560"/>
            <a:ext cx="265176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051560"/>
            <a:ext cx="64008" cy="146304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16" name="Text 14"/>
          <p:cNvSpPr/>
          <p:nvPr/>
        </p:nvSpPr>
        <p:spPr>
          <a:xfrm>
            <a:off x="6336792" y="12161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36792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Parallelization Strategy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36792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MPI + OpenMP hybrid approach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880360"/>
            <a:ext cx="265176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880360"/>
            <a:ext cx="64008" cy="146304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30449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6072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Implementation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C, CSR graph format, code structure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880360"/>
            <a:ext cx="265176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2880360"/>
            <a:ext cx="64008" cy="146304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26" name="Text 24"/>
          <p:cNvSpPr/>
          <p:nvPr/>
        </p:nvSpPr>
        <p:spPr>
          <a:xfrm>
            <a:off x="3456432" y="30449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56432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Datasets &amp; Results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56432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Facebook, Email, Twitter benchmarks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880360"/>
            <a:ext cx="265176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880360"/>
            <a:ext cx="64008" cy="146304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31" name="Text 29"/>
          <p:cNvSpPr/>
          <p:nvPr/>
        </p:nvSpPr>
        <p:spPr>
          <a:xfrm>
            <a:off x="6336792" y="30449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36792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36792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Takeaways and future scope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E4"/>
                </a:solidFill>
              </a:rPr>
              <a:t>What is Community Detection?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</a:rPr>
              <a:t>Real-world networks (social, biological, infrastructure) naturally cluster into communities.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</a:rPr>
              <a:t>Community detection identifies groups of densely connected nodes — revealing hidden structure.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</a:rPr>
              <a:t>Applications: fraud detection, recommendation systems, protein interaction analysis, network segmentation.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</a:rPr>
              <a:t>Challenge: algorithms must scale to millions of nodes in reasonable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1005840"/>
            <a:ext cx="14630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143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E4"/>
                </a:solidFill>
              </a:rPr>
              <a:t>4,039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760720" y="1664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Facebook nodes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60920" y="1005840"/>
            <a:ext cx="14630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1143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E4"/>
                </a:solidFill>
              </a:rPr>
              <a:t>265K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60920" y="1664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Email network nodes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2423160"/>
            <a:ext cx="14630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E4"/>
                </a:solidFill>
              </a:rPr>
              <a:t>81K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760720" y="3081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Twitter nodes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2423160"/>
            <a:ext cx="14630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E4"/>
                </a:solidFill>
              </a:rPr>
              <a:t>4.7×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60920" y="3081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Speedup achieved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Louvain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502920" cy="502920"/>
          </a:xfrm>
          <a:prstGeom prst="ellipse">
            <a:avLst/>
          </a:prstGeom>
          <a:solidFill>
            <a:srgbClr val="00C9E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" y="1472184"/>
            <a:ext cx="36576" cy="475488"/>
          </a:xfrm>
          <a:prstGeom prst="rect">
            <a:avLst/>
          </a:prstGeom>
          <a:solidFill>
            <a:srgbClr val="1A3460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960120"/>
            <a:ext cx="457200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0149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Initialize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28930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Each node begins in its own community. N communities for N nodes.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947672"/>
            <a:ext cx="502920" cy="502920"/>
          </a:xfrm>
          <a:prstGeom prst="ellipse">
            <a:avLst/>
          </a:prstGeom>
          <a:solidFill>
            <a:srgbClr val="00C9E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2376" y="2459736"/>
            <a:ext cx="36576" cy="475488"/>
          </a:xfrm>
          <a:prstGeom prst="rect">
            <a:avLst/>
          </a:prstGeom>
          <a:solidFill>
            <a:srgbClr val="1A346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1947672"/>
            <a:ext cx="457200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0025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Local Optimization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2768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For each node, compute modularity gain ΔQ from moving to a neighbor's community.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35224"/>
            <a:ext cx="502920" cy="502920"/>
          </a:xfrm>
          <a:prstGeom prst="ellipse">
            <a:avLst/>
          </a:prstGeom>
          <a:solidFill>
            <a:srgbClr val="00C9E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2376" y="3447288"/>
            <a:ext cx="36576" cy="475488"/>
          </a:xfrm>
          <a:prstGeom prst="rect">
            <a:avLst/>
          </a:prstGeom>
          <a:solidFill>
            <a:srgbClr val="1A346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8720" y="2935224"/>
            <a:ext cx="457200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2990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Best Move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2644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Move node to the community with the maximum positive ΔQ gain.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922776"/>
            <a:ext cx="502920" cy="502920"/>
          </a:xfrm>
          <a:prstGeom prst="ellipse">
            <a:avLst/>
          </a:prstGeom>
          <a:solidFill>
            <a:srgbClr val="00C9E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88720" y="3922776"/>
            <a:ext cx="457200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3977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Repeat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425196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Iterate over all nodes until no beneficial moves remain (convergence).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960120"/>
            <a:ext cx="2788920" cy="384048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9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097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E4"/>
                </a:solidFill>
              </a:rPr>
              <a:t>Modularity Q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72200" y="1554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Σ [ Aᵢⱼ − kᵢkⱼ/2m ] δ(cᵢ,cⱼ)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2194560"/>
            <a:ext cx="2514600" cy="18288"/>
          </a:xfrm>
          <a:prstGeom prst="rect">
            <a:avLst/>
          </a:prstGeom>
          <a:solidFill>
            <a:srgbClr val="1A3460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230428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8F5"/>
                </a:solidFill>
              </a:rPr>
              <a:t>Aᵢⱼ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Adjacency matrix weight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280720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8F5"/>
                </a:solidFill>
              </a:rPr>
              <a:t>kᵢ, kⱼ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Degree of nodes i and j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33101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8F5"/>
                </a:solidFill>
              </a:rPr>
              <a:t>2m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Total edge weight (×2)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8130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8F5"/>
                </a:solidFill>
              </a:rPr>
              <a:t>δ(cᵢ,cⱼ)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 if same community, else 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Parallelization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3977640" cy="3931920"/>
          </a:xfrm>
          <a:prstGeom prst="rect">
            <a:avLst/>
          </a:prstGeom>
          <a:solidFill>
            <a:srgbClr val="112240"/>
          </a:solidFill>
          <a:ln w="25400">
            <a:solidFill>
              <a:srgbClr val="00C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3977640" cy="59436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MPI  ·  Inter-process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Distributes the graph across multiple processes via domain decomposition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Each process handles a contiguous chunk of nodes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MPI_Allgatherv syncs community assignments across processes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MPI_Allreduce checks global convergence condition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Compiled with mpicc + -O3 optimization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77640" cy="3931920"/>
          </a:xfrm>
          <a:prstGeom prst="rect">
            <a:avLst/>
          </a:prstGeom>
          <a:solidFill>
            <a:srgbClr val="11224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397764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9144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OpenMP  ·  Intra-process threading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27632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#pragma omp parallel for — threads work local node chunk in parallel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Dynamic scheduling (chunk=64) balances uneven node degrees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#pragma omp atomic — safe updates to shared community weights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Reduction clauses for improvement flags and shift counts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Threads share CSR graph in-memory for cache efficiency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E4"/>
                </a:solidFill>
              </a:rPr>
              <a:t>Project Structure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93192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08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Entry point — serial &amp; parallel dispatch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393192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75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src/graph.c / .h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762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CSR graph loader (SNAP edge-list format)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393192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42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src/louvain_serial.c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Baseline serial Louvain implementation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072384"/>
            <a:ext cx="393192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08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src/louvain_parallel.c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3101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MPI + OpenMP parallel implementation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639312"/>
            <a:ext cx="393192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scripts/benchmark.py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877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Automated compile → run → plot pipeline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206240"/>
            <a:ext cx="393192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42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scripts/visualize.py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4439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Community cluster &amp; histogram visualizer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E4"/>
                </a:solidFill>
              </a:rPr>
              <a:t>Graph Storage: CSR Format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371600"/>
            <a:ext cx="4114800" cy="3383280"/>
          </a:xfrm>
          <a:prstGeom prst="rect">
            <a:avLst/>
          </a:prstGeom>
          <a:solidFill>
            <a:srgbClr val="050D1A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50876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E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num_nodes   — total vertices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E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num_edges   — total edges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row_ptr[]   — CSR row offsets (size: N+1)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col_idx[]   — edge targets + weights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node_weights[] — weighted degree per node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total_weight   — sum of all edge weights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754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Cache-efficient traversal — ideal for large sparse graphs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Datasets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Real-world social network graphs from Stanford SNAP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463040" cy="41148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1143000"/>
            <a:ext cx="1097280" cy="41148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8" name="Text 6"/>
          <p:cNvSpPr/>
          <p:nvPr/>
        </p:nvSpPr>
        <p:spPr>
          <a:xfrm>
            <a:off x="1947672" y="1143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Nodes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1143000"/>
            <a:ext cx="1371600" cy="41148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10" name="Text 8"/>
          <p:cNvSpPr/>
          <p:nvPr/>
        </p:nvSpPr>
        <p:spPr>
          <a:xfrm>
            <a:off x="3044952" y="1143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Edges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143000"/>
            <a:ext cx="4572000" cy="41148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12" name="Text 10"/>
          <p:cNvSpPr/>
          <p:nvPr/>
        </p:nvSpPr>
        <p:spPr>
          <a:xfrm>
            <a:off x="4416552" y="11430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1554480"/>
            <a:ext cx="1463040" cy="548640"/>
          </a:xfrm>
          <a:prstGeom prst="rect">
            <a:avLst/>
          </a:prstGeom>
          <a:solidFill>
            <a:srgbClr val="112240"/>
          </a:solidFill>
          <a:ln w="6350">
            <a:solidFill>
              <a:srgbClr val="1A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E8F5"/>
                </a:solidFill>
              </a:rPr>
              <a:t>Facebook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1554480"/>
            <a:ext cx="1097280" cy="548640"/>
          </a:xfrm>
          <a:prstGeom prst="rect">
            <a:avLst/>
          </a:prstGeom>
          <a:solidFill>
            <a:srgbClr val="112240"/>
          </a:solidFill>
          <a:ln w="6350">
            <a:solidFill>
              <a:srgbClr val="1A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1554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4,039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1554480"/>
            <a:ext cx="1371600" cy="548640"/>
          </a:xfrm>
          <a:prstGeom prst="rect">
            <a:avLst/>
          </a:prstGeom>
          <a:solidFill>
            <a:srgbClr val="112240"/>
          </a:solidFill>
          <a:ln w="6350">
            <a:solidFill>
              <a:srgbClr val="1A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1554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88,234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1554480"/>
            <a:ext cx="4572000" cy="548640"/>
          </a:xfrm>
          <a:prstGeom prst="rect">
            <a:avLst/>
          </a:prstGeom>
          <a:solidFill>
            <a:srgbClr val="112240"/>
          </a:solidFill>
          <a:ln w="6350">
            <a:solidFill>
              <a:srgbClr val="1A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1554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Social circles from Facebook ego networks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148840"/>
            <a:ext cx="146304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1A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E8F5"/>
                </a:solidFill>
              </a:rPr>
              <a:t>Email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74520" y="2148840"/>
            <a:ext cx="109728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1A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47672" y="2148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265,214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71800" y="2148840"/>
            <a:ext cx="137160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1A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4952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420,045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43400" y="2148840"/>
            <a:ext cx="457200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1A34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6552" y="2148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EU research institution email communication network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2743200"/>
            <a:ext cx="1463040" cy="548640"/>
          </a:xfrm>
          <a:prstGeom prst="rect">
            <a:avLst/>
          </a:prstGeom>
          <a:solidFill>
            <a:srgbClr val="112240"/>
          </a:solidFill>
          <a:ln w="6350">
            <a:solidFill>
              <a:srgbClr val="1A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E8F5"/>
                </a:solidFill>
              </a:rPr>
              <a:t>Twitter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874520" y="2743200"/>
            <a:ext cx="1097280" cy="548640"/>
          </a:xfrm>
          <a:prstGeom prst="rect">
            <a:avLst/>
          </a:prstGeom>
          <a:solidFill>
            <a:srgbClr val="112240"/>
          </a:solidFill>
          <a:ln w="6350">
            <a:solidFill>
              <a:srgbClr val="1A34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47672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81,306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71800" y="2743200"/>
            <a:ext cx="1371600" cy="548640"/>
          </a:xfrm>
          <a:prstGeom prst="rect">
            <a:avLst/>
          </a:prstGeom>
          <a:solidFill>
            <a:srgbClr val="112240"/>
          </a:solidFill>
          <a:ln w="6350">
            <a:solidFill>
              <a:srgbClr val="1A34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44952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1,768,149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43400" y="2743200"/>
            <a:ext cx="4572000" cy="548640"/>
          </a:xfrm>
          <a:prstGeom prst="rect">
            <a:avLst/>
          </a:prstGeom>
          <a:solidFill>
            <a:srgbClr val="112240"/>
          </a:solidFill>
          <a:ln w="6350">
            <a:solidFill>
              <a:srgbClr val="1A34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16552" y="2743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Twitter follower graph (largest — best speedup)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3429000"/>
            <a:ext cx="841248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E4"/>
                </a:solidFill>
              </a:rPr>
              <a:t>Pipeline: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" y="3794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fetch_data.py  →  normalize.py  →  ./louvain  →  visualize.py  →  benchmark_results.png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Source: Stanford SNAP · snap.stanford.edu/data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Benchmark Results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22960"/>
            <a:ext cx="841248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4251960"/>
            <a:ext cx="2651760" cy="658368"/>
          </a:xfrm>
          <a:prstGeom prst="rect">
            <a:avLst/>
          </a:prstGeom>
          <a:solidFill>
            <a:srgbClr val="112240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1208" y="42519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Facebook </a:t>
            </a:r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~1.2×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1208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Small graph — MPI overhead limits gain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46120" y="4251960"/>
            <a:ext cx="2651760" cy="658368"/>
          </a:xfrm>
          <a:prstGeom prst="rect">
            <a:avLst/>
          </a:prstGeom>
          <a:solidFill>
            <a:srgbClr val="11224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55848" y="42519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Twitter 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~4.7×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55848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Large graph — computation dominates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80760" y="4251960"/>
            <a:ext cx="2651760" cy="658368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0488" y="42519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Email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~0.6×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90488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Irregular structure — overhead penalty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Community Visualization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04672"/>
            <a:ext cx="5029200" cy="41148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804672"/>
            <a:ext cx="324612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77840" y="34930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E4"/>
                </a:solidFill>
              </a:rPr>
              <a:t>Key Observations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577840" y="38404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Louvain found many small communities and a few large dense clusters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Community size follows a power-law distribution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High modularity (0.83) indicates strong community structure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E4"/>
                </a:solidFill>
              </a:rPr>
              <a:t>Key Takeaways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399032"/>
            <a:ext cx="329184" cy="329184"/>
          </a:xfrm>
          <a:prstGeom prst="ellipse">
            <a:avLst/>
          </a:prstGeom>
          <a:solidFill>
            <a:srgbClr val="00C9E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533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Implemented Louvain in C — a clean, efficient serial baseline.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329184" cy="329184"/>
          </a:xfrm>
          <a:prstGeom prst="ellipse">
            <a:avLst/>
          </a:prstGeom>
          <a:solidFill>
            <a:srgbClr val="00C9E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Hybrid MPI + OpenMP parallelism achieves up to 4.7× speedup on large graphs.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532888"/>
            <a:ext cx="329184" cy="329184"/>
          </a:xfrm>
          <a:prstGeom prst="ellipse">
            <a:avLst/>
          </a:prstGeom>
          <a:solidFill>
            <a:srgbClr val="00C9E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CSR format ensures cache-friendly memory access for sparse graph traversal.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099816"/>
            <a:ext cx="329184" cy="329184"/>
          </a:xfrm>
          <a:prstGeom prst="ellipse">
            <a:avLst/>
          </a:prstGeom>
          <a:solidFill>
            <a:srgbClr val="00C9E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0540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Modularity score of 0.83 confirms high-quality community partitioning.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666744"/>
            <a:ext cx="329184" cy="329184"/>
          </a:xfrm>
          <a:prstGeom prst="ellipse">
            <a:avLst/>
          </a:prstGeom>
          <a:solidFill>
            <a:srgbClr val="00C9E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6210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Communication overhead limits gains on small graphs — well-understood trade-off.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914400"/>
            <a:ext cx="3063240" cy="393192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914400"/>
            <a:ext cx="30632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914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97880" y="146304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GPU acceleration with CUDA for massive speedup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Multi-level hierarchical Louvain (phase 2 aggregation)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Dynamic graph support — streaming community updates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Distributed memory on HPC clusters (multi-node MPI)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Weighted edge support for richer datasets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C9E4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2606040"/>
            <a:ext cx="4572000" cy="36576"/>
          </a:xfrm>
          <a:prstGeom prst="rect">
            <a:avLst/>
          </a:prstGeom>
          <a:solidFill>
            <a:srgbClr val="1A34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Dhruv Jindal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906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U23AI083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2044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Lakshit Vedant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30906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U23AI015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Yash Joshi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30906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U23AI119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AI356 · High Performance Computing  |  B.Tech AI · 3rd Year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460"/>
                </a:solidFill>
              </a:rPr>
              <a:t>Built with C · MPI · OpenMP · Python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Louvain Community Detection — HPC Project</dc:title>
  <dc:subject>PptxGenJS Presentation</dc:subject>
  <dc:creator>Dhruv Jindal, Lakshit Vedant, Yash Joshi</dc:creator>
  <cp:lastModifiedBy>Dhruv Jindal, Lakshit Vedant, Yash Joshi</cp:lastModifiedBy>
  <cp:revision>1</cp:revision>
  <dcterms:created xsi:type="dcterms:W3CDTF">2026-04-20T04:29:03Z</dcterms:created>
  <dcterms:modified xsi:type="dcterms:W3CDTF">2026-04-20T04:29:03Z</dcterms:modified>
</cp:coreProperties>
</file>